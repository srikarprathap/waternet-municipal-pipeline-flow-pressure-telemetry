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9CA716-DDFC-4A39-BE96-81C7B0FC496F}" v="26" dt="2026-10-17T05:00:53.7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KAR PRATHAP" userId="1bbd7932bf938667" providerId="LiveId" clId="{C3073DAA-9295-4DF7-80CA-3B50AE273CCE}"/>
    <pc:docChg chg="undo custSel modSld">
      <pc:chgData name="SRIKAR PRATHAP" userId="1bbd7932bf938667" providerId="LiveId" clId="{C3073DAA-9295-4DF7-80CA-3B50AE273CCE}" dt="2026-10-17T05:00:53.246" v="34"/>
      <pc:docMkLst>
        <pc:docMk/>
      </pc:docMkLst>
      <pc:sldChg chg="modSp">
        <pc:chgData name="SRIKAR PRATHAP" userId="1bbd7932bf938667" providerId="LiveId" clId="{C3073DAA-9295-4DF7-80CA-3B50AE273CCE}" dt="2026-10-17T05:00:53.246" v="34"/>
        <pc:sldMkLst>
          <pc:docMk/>
          <pc:sldMk cId="0" sldId="256"/>
        </pc:sldMkLst>
        <pc:spChg chg="mod">
          <ac:chgData name="SRIKAR PRATHAP" userId="1bbd7932bf938667" providerId="LiveId" clId="{C3073DAA-9295-4DF7-80CA-3B50AE273CCE}" dt="2026-10-17T05:00:53.246" v="34"/>
          <ac:spMkLst>
            <pc:docMk/>
            <pc:sldMk cId="0" sldId="256"/>
            <ac:spMk id="8" creationId="{00000000-0000-0000-0000-000000000000}"/>
          </ac:spMkLst>
        </pc:spChg>
      </pc:sldChg>
      <pc:sldChg chg="addSp delSp modSp mod">
        <pc:chgData name="SRIKAR PRATHAP" userId="1bbd7932bf938667" providerId="LiveId" clId="{C3073DAA-9295-4DF7-80CA-3B50AE273CCE}" dt="2026-10-17T00:02:56.482" v="9" actId="1036"/>
        <pc:sldMkLst>
          <pc:docMk/>
          <pc:sldMk cId="0" sldId="262"/>
        </pc:sldMkLst>
        <pc:picChg chg="mod">
          <ac:chgData name="SRIKAR PRATHAP" userId="1bbd7932bf938667" providerId="LiveId" clId="{C3073DAA-9295-4DF7-80CA-3B50AE273CCE}" dt="2026-10-17T00:02:56.482" v="9" actId="1036"/>
          <ac:picMkLst>
            <pc:docMk/>
            <pc:sldMk cId="0" sldId="262"/>
            <ac:picMk id="15" creationId="{9ACBB514-0335-8F27-6276-022C3ECB61CA}"/>
          </ac:picMkLst>
        </pc:picChg>
        <pc:picChg chg="add del">
          <ac:chgData name="SRIKAR PRATHAP" userId="1bbd7932bf938667" providerId="LiveId" clId="{C3073DAA-9295-4DF7-80CA-3B50AE273CCE}" dt="2026-10-17T00:00:55.884" v="7" actId="22"/>
          <ac:picMkLst>
            <pc:docMk/>
            <pc:sldMk cId="0" sldId="262"/>
            <ac:picMk id="17" creationId="{63DA09F9-B6CC-977C-8742-4D45EE8541DD}"/>
          </ac:picMkLst>
        </pc:picChg>
      </pc:sldChg>
      <pc:sldChg chg="delSp modSp mod">
        <pc:chgData name="SRIKAR PRATHAP" userId="1bbd7932bf938667" providerId="LiveId" clId="{C3073DAA-9295-4DF7-80CA-3B50AE273CCE}" dt="2026-10-16T23:28:51.500" v="2"/>
        <pc:sldMkLst>
          <pc:docMk/>
          <pc:sldMk cId="0" sldId="263"/>
        </pc:sldMkLst>
        <pc:spChg chg="del mod">
          <ac:chgData name="SRIKAR PRATHAP" userId="1bbd7932bf938667" providerId="LiveId" clId="{C3073DAA-9295-4DF7-80CA-3B50AE273CCE}" dt="2026-10-16T23:28:51.500" v="2"/>
          <ac:spMkLst>
            <pc:docMk/>
            <pc:sldMk cId="0" sldId="263"/>
            <ac:spMk id="3" creationId="{00000000-0000-0000-0000-000000000000}"/>
          </ac:spMkLst>
        </pc:spChg>
      </pc:sldChg>
      <pc:sldChg chg="delSp modSp mod">
        <pc:chgData name="SRIKAR PRATHAP" userId="1bbd7932bf938667" providerId="LiveId" clId="{C3073DAA-9295-4DF7-80CA-3B50AE273CCE}" dt="2026-10-17T00:00:36.420" v="5"/>
        <pc:sldMkLst>
          <pc:docMk/>
          <pc:sldMk cId="0" sldId="266"/>
        </pc:sldMkLst>
        <pc:spChg chg="del mod">
          <ac:chgData name="SRIKAR PRATHAP" userId="1bbd7932bf938667" providerId="LiveId" clId="{C3073DAA-9295-4DF7-80CA-3B50AE273CCE}" dt="2026-10-17T00:00:36.420" v="5"/>
          <ac:spMkLst>
            <pc:docMk/>
            <pc:sldMk cId="0" sldId="266"/>
            <ac:spMk id="1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18320" y="457200"/>
            <a:ext cx="2103120" cy="2103120"/>
          </a:xfrm>
          <a:prstGeom prst="ellipse">
            <a:avLst/>
          </a:prstGeom>
          <a:solidFill>
            <a:srgbClr val="193B54"/>
          </a:solidFill>
          <a:ln>
            <a:solidFill>
              <a:srgbClr val="193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1965960"/>
            <a:ext cx="1188720" cy="1188720"/>
          </a:xfrm>
          <a:prstGeom prst="ellipse">
            <a:avLst/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69680" y="3337560"/>
            <a:ext cx="640080" cy="640080"/>
          </a:xfrm>
          <a:prstGeom prst="ellipse">
            <a:avLst/>
          </a:prstGeom>
          <a:solidFill>
            <a:srgbClr val="4DD3DC"/>
          </a:solidFill>
          <a:ln>
            <a:solidFill>
              <a:srgbClr val="4D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49840" y="4160520"/>
            <a:ext cx="1554480" cy="1554480"/>
          </a:xfrm>
          <a:prstGeom prst="ellipse">
            <a:avLst/>
          </a:prstGeom>
          <a:solidFill>
            <a:srgbClr val="193B54"/>
          </a:solidFill>
          <a:ln>
            <a:solidFill>
              <a:srgbClr val="193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ardrop 5"/>
          <p:cNvSpPr/>
          <p:nvPr/>
        </p:nvSpPr>
        <p:spPr>
          <a:xfrm rot="10800000">
            <a:off x="9646920" y="2194560"/>
            <a:ext cx="960120" cy="1143000"/>
          </a:xfrm>
          <a:prstGeom prst="teardrop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0560" y="482167"/>
            <a:ext cx="8046720" cy="120032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WaterNet</a:t>
            </a:r>
            <a:r>
              <a:rPr lang="en-IN" sz="3600" b="1" dirty="0">
                <a:solidFill>
                  <a:schemeClr val="bg1"/>
                </a:solidFill>
              </a:rPr>
              <a:t>: Municipal Pipeline Flow &amp; Pressure Telemetry</a:t>
            </a:r>
            <a:endParaRPr sz="3600" b="1" i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1865376"/>
            <a:ext cx="713232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 i="0" dirty="0">
                <a:solidFill>
                  <a:srgbClr val="CDE1ED"/>
                </a:solidFill>
                <a:latin typeface="Aptos"/>
              </a:rPr>
              <a:t>Software-based telemetry simulation, data visualization and threshold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16823"/>
            <a:ext cx="1463040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4DD3DC"/>
                </a:solidFill>
                <a:latin typeface="Aptos"/>
              </a:rPr>
              <a:t>Project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47680"/>
            <a:ext cx="4846320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Dr. Karumuri Sri Rama Murthy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22000"/>
            <a:ext cx="6675120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 dirty="0">
                <a:solidFill>
                  <a:srgbClr val="CDE1ED"/>
                </a:solidFill>
                <a:latin typeface="Aptos"/>
              </a:rPr>
              <a:t>Asst. Professor, Department of CSE, KLU Hyderabad, </a:t>
            </a:r>
            <a:r>
              <a:rPr sz="1400" b="0" i="0" dirty="0" err="1">
                <a:solidFill>
                  <a:srgbClr val="CDE1ED"/>
                </a:solidFill>
                <a:latin typeface="Aptos"/>
              </a:rPr>
              <a:t>Hyd</a:t>
            </a:r>
            <a:endParaRPr sz="1400" b="0" i="0" dirty="0">
              <a:solidFill>
                <a:srgbClr val="CDE1ED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425696"/>
            <a:ext cx="13716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 dirty="0">
                <a:solidFill>
                  <a:srgbClr val="4DD3DC"/>
                </a:solidFill>
                <a:latin typeface="Aptos"/>
              </a:rPr>
              <a:t>Team No: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73168"/>
            <a:ext cx="50292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Aptos"/>
              </a:rPr>
              <a:t>25200400</a:t>
            </a:r>
            <a:r>
              <a:rPr lang="en-IN" sz="1200" b="1" i="0" dirty="0">
                <a:solidFill>
                  <a:srgbClr val="FFFFFF"/>
                </a:solidFill>
                <a:latin typeface="Aptos"/>
              </a:rPr>
              <a:t>06</a:t>
            </a:r>
            <a:r>
              <a:rPr sz="1200" b="1" i="0" dirty="0">
                <a:solidFill>
                  <a:srgbClr val="FFFFFF"/>
                </a:solidFill>
                <a:latin typeface="Aptos"/>
              </a:rPr>
              <a:t>  </a:t>
            </a:r>
            <a:r>
              <a:rPr lang="en-IN" sz="1200" b="1" i="0" dirty="0">
                <a:solidFill>
                  <a:srgbClr val="FFFFFF"/>
                </a:solidFill>
                <a:latin typeface="Aptos"/>
              </a:rPr>
              <a:t>S. Srikar </a:t>
            </a:r>
            <a:r>
              <a:rPr lang="en-IN" sz="1200" b="1" i="0" dirty="0" err="1">
                <a:solidFill>
                  <a:srgbClr val="FFFFFF"/>
                </a:solidFill>
                <a:latin typeface="Aptos"/>
              </a:rPr>
              <a:t>Prathap</a:t>
            </a:r>
            <a:endParaRPr sz="12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5084064"/>
            <a:ext cx="50292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Aptos"/>
              </a:rPr>
              <a:t>25200400</a:t>
            </a:r>
            <a:r>
              <a:rPr lang="en-IN" sz="1200" b="1" i="0" dirty="0">
                <a:solidFill>
                  <a:srgbClr val="FFFFFF"/>
                </a:solidFill>
                <a:latin typeface="Aptos"/>
              </a:rPr>
              <a:t>60</a:t>
            </a:r>
            <a:r>
              <a:rPr sz="1200" b="1" i="0" dirty="0">
                <a:solidFill>
                  <a:srgbClr val="FFFFFF"/>
                </a:solidFill>
                <a:latin typeface="Aptos"/>
              </a:rPr>
              <a:t>  </a:t>
            </a:r>
            <a:r>
              <a:rPr lang="en-IN" sz="1200" b="1" dirty="0">
                <a:solidFill>
                  <a:srgbClr val="FFFFFF"/>
                </a:solidFill>
                <a:latin typeface="Aptos"/>
              </a:rPr>
              <a:t>D</a:t>
            </a:r>
            <a:r>
              <a:rPr sz="1200" b="1" i="0" dirty="0">
                <a:solidFill>
                  <a:srgbClr val="FFFFFF"/>
                </a:solidFill>
                <a:latin typeface="Aptos"/>
              </a:rPr>
              <a:t>. </a:t>
            </a:r>
            <a:r>
              <a:rPr lang="en-IN" sz="1200" b="1" dirty="0">
                <a:solidFill>
                  <a:srgbClr val="FFFFFF"/>
                </a:solidFill>
                <a:latin typeface="Aptos"/>
              </a:rPr>
              <a:t>Dakshesh</a:t>
            </a:r>
            <a:r>
              <a:rPr sz="1200" b="1" i="0" dirty="0">
                <a:solidFill>
                  <a:srgbClr val="FFFFFF"/>
                </a:solidFill>
                <a:latin typeface="Aptos"/>
              </a:rPr>
              <a:t> Kumar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60" y="6108192"/>
            <a:ext cx="71323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4DD3DC"/>
                </a:solidFill>
                <a:latin typeface="Aptos"/>
              </a:rPr>
              <a:t>React.js  •  Node.js  •  Express.js  •  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560" y="6592824"/>
            <a:ext cx="73152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 i="0">
                <a:solidFill>
                  <a:srgbClr val="9AB2C5"/>
                </a:solidFill>
                <a:latin typeface="Aptos"/>
              </a:rPr>
              <a:t>WATERNET  •  SOFTWARE-BASED PIPELINE TELEMETRY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92240"/>
            <a:ext cx="274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 i="0">
                <a:solidFill>
                  <a:srgbClr val="9AB2C5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700" b="1" i="0">
                <a:solidFill>
                  <a:srgbClr val="0F2740"/>
                </a:solidFill>
                <a:latin typeface="Aptos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383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1" i="0">
                <a:solidFill>
                  <a:srgbClr val="0CAEBE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53312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2" y="1234440"/>
            <a:ext cx="103784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F3448"/>
                </a:solidFill>
                <a:latin typeface="Aptos"/>
              </a:rPr>
              <a:t>WaterNet is a software-based municipal pipeline telemetry monitoring prototype.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19656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2" y="1700784"/>
            <a:ext cx="103784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F3448"/>
                </a:solidFill>
                <a:latin typeface="Aptos"/>
              </a:rPr>
              <a:t>It generates simulated flow-rate, pressure and turbidity readings at regular intervals.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86000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67128"/>
            <a:ext cx="103784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F3448"/>
                </a:solidFill>
                <a:latin typeface="Aptos"/>
              </a:rPr>
              <a:t>The Node.js backend processes readings and exposes REST API endpoints through Express.js.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52344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2" y="2633472"/>
            <a:ext cx="103784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F3448"/>
                </a:solidFill>
                <a:latin typeface="Aptos"/>
              </a:rPr>
              <a:t>PostgreSQL stores user accounts, telemetry measurements and alert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1868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2" y="3099816"/>
            <a:ext cx="103784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F3448"/>
                </a:solidFill>
                <a:latin typeface="Aptos"/>
              </a:rPr>
              <a:t>A React dashboard presents key metrics, recent readings and flow/pressure charts.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85032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3272" y="3566160"/>
            <a:ext cx="103784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F3448"/>
                </a:solidFill>
                <a:latin typeface="Aptos"/>
              </a:rPr>
              <a:t>Threshold rules flag possible leaks when flow is high and pressure is 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151376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2" y="4032504"/>
            <a:ext cx="103784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F3448"/>
                </a:solidFill>
                <a:latin typeface="Aptos"/>
              </a:rPr>
              <a:t>Additional rules identify unusually high turbidity for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617720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498848"/>
            <a:ext cx="103784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F3448"/>
                </a:solidFill>
                <a:latin typeface="Aptos"/>
              </a:rPr>
              <a:t>Authenticated API requests demonstrate controlled access to telemetry operations.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084064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33272" y="4965192"/>
            <a:ext cx="103784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F3448"/>
                </a:solidFill>
                <a:latin typeface="Aptos"/>
              </a:rPr>
              <a:t>The current version uses simulated data and does not require physical sensors.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550407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33272" y="5431536"/>
            <a:ext cx="103784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F3448"/>
                </a:solidFill>
                <a:latin typeface="Aptos"/>
              </a:rPr>
              <a:t>Future work can connect real sensors or a gateway while retaining the dashboard and database.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0528"/>
            <a:ext cx="73152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 i="0">
                <a:solidFill>
                  <a:srgbClr val="637A8F"/>
                </a:solidFill>
                <a:latin typeface="Aptos"/>
              </a:rPr>
              <a:t>WATERNET  •  SOFTWARE-BASED PIPELINE TELEMETRY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92240"/>
            <a:ext cx="274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 i="0">
                <a:solidFill>
                  <a:srgbClr val="637A8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700" b="1" i="0">
                <a:solidFill>
                  <a:srgbClr val="0F2740"/>
                </a:solidFill>
                <a:latin typeface="Aptos"/>
              </a:rP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95528"/>
            <a:ext cx="105156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 dirty="0">
                <a:solidFill>
                  <a:srgbClr val="637A8F"/>
                </a:solidFill>
                <a:latin typeface="Aptos"/>
              </a:rPr>
              <a:t>Frontend, backend / middleware, and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383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1" i="0">
                <a:solidFill>
                  <a:srgbClr val="0CAEBE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7472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8580" cy="3337560"/>
          </a:xfrm>
          <a:prstGeom prst="rect">
            <a:avLst/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3154679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F2740"/>
                </a:solidFill>
                <a:latin typeface="Aptos"/>
              </a:rPr>
              <a:t>FRONT-END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3127248" cy="2816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637A8F"/>
                </a:solidFill>
                <a:latin typeface="Aptos"/>
              </a:rPr>
              <a:t>React.js
Recharts — data visualization
Lucide React — interface icons
HTML, CSS and JavaScript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7472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68580" cy="3337560"/>
          </a:xfrm>
          <a:prstGeom prst="rect">
            <a:avLst/>
          </a:prstGeom>
          <a:solidFill>
            <a:srgbClr val="F49D37"/>
          </a:solidFill>
          <a:ln>
            <a:solidFill>
              <a:srgbClr val="F4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36192"/>
            <a:ext cx="3154679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F2740"/>
                </a:solidFill>
                <a:latin typeface="Aptos"/>
              </a:rPr>
              <a:t>BACK-END / MIDDLEWARE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56232"/>
            <a:ext cx="3127248" cy="2816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637A8F"/>
                </a:solidFill>
                <a:latin typeface="Aptos"/>
              </a:rPr>
              <a:t>Node.js — runtime
Express.js — REST API
JWT — token-based authentication
bcrypt — password hashing
CORS — cross-origin requests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7472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68580" cy="3337560"/>
          </a:xfrm>
          <a:prstGeom prst="rect">
            <a:avLst/>
          </a:prstGeom>
          <a:solidFill>
            <a:srgbClr val="23B88B"/>
          </a:solidFill>
          <a:ln>
            <a:solidFill>
              <a:srgbClr val="23B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536192"/>
            <a:ext cx="3154679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F2740"/>
                </a:solidFill>
                <a:latin typeface="Aptos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856232"/>
            <a:ext cx="3127248" cy="2816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637A8F"/>
                </a:solidFill>
                <a:latin typeface="Aptos"/>
              </a:rPr>
              <a:t>PostgreSQL
users — account information
telemetry — readings and source
alerts — detected conditions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166360"/>
            <a:ext cx="10332720" cy="594360"/>
          </a:xfrm>
          <a:prstGeom prst="roundRect">
            <a:avLst>
              <a:gd name="adj" fmla="val 12000"/>
            </a:avLst>
          </a:prstGeom>
          <a:solidFill>
            <a:srgbClr val="DEF9FA"/>
          </a:solidFill>
          <a:ln>
            <a:solidFill>
              <a:srgbClr val="DE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528523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0F2740"/>
                </a:solidFill>
                <a:latin typeface="Aptos"/>
              </a:rPr>
              <a:t>Current data source: software simulator • No physical sensors connected in this 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73152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 i="0">
                <a:solidFill>
                  <a:srgbClr val="637A8F"/>
                </a:solidFill>
                <a:latin typeface="Aptos"/>
              </a:rPr>
              <a:t>WATERNET  •  SOFTWARE-BASED PIPELINE TELEMETRY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92240"/>
            <a:ext cx="274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 i="0">
                <a:solidFill>
                  <a:srgbClr val="637A8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700" b="1" i="0">
                <a:solidFill>
                  <a:srgbClr val="0F2740"/>
                </a:solidFill>
                <a:latin typeface="Aptos"/>
              </a:rPr>
              <a:t>Problem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95528"/>
            <a:ext cx="105156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637A8F"/>
                </a:solidFill>
                <a:latin typeface="Aptos"/>
              </a:rPr>
              <a:t>Need for an accessible pipeline monitoring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383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1" i="0">
                <a:solidFill>
                  <a:srgbClr val="0CAEBE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8580" cy="1600200"/>
          </a:xfrm>
          <a:prstGeom prst="rect">
            <a:avLst/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3108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F2740"/>
                </a:solidFill>
                <a:latin typeface="Aptos"/>
              </a:rPr>
              <a:t>Limited visibility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3081528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637A8F"/>
                </a:solidFill>
                <a:latin typeface="Aptos"/>
              </a:rPr>
              <a:t>Readings may be difficult to review when they are not presented in one interface.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68580" cy="1600200"/>
          </a:xfrm>
          <a:prstGeom prst="rect">
            <a:avLst/>
          </a:prstGeom>
          <a:solidFill>
            <a:srgbClr val="E25B66"/>
          </a:solidFill>
          <a:ln>
            <a:solidFill>
              <a:srgbClr val="E2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36192"/>
            <a:ext cx="3108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F2740"/>
                </a:solidFill>
                <a:latin typeface="Aptos"/>
              </a:rPr>
              <a:t>Abnormal readings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56232"/>
            <a:ext cx="3081528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637A8F"/>
                </a:solidFill>
                <a:latin typeface="Aptos"/>
              </a:rPr>
              <a:t>High flow combined with low pressure may indicate a possible leak.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68580" cy="1600200"/>
          </a:xfrm>
          <a:prstGeom prst="rect">
            <a:avLst/>
          </a:prstGeom>
          <a:solidFill>
            <a:srgbClr val="F49D37"/>
          </a:solidFill>
          <a:ln>
            <a:solidFill>
              <a:srgbClr val="F4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536192"/>
            <a:ext cx="3108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F2740"/>
                </a:solidFill>
                <a:latin typeface="Aptos"/>
              </a:rPr>
              <a:t>Trend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856232"/>
            <a:ext cx="3081528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637A8F"/>
                </a:solidFill>
                <a:latin typeface="Aptos"/>
              </a:rPr>
              <a:t>Recent stored readings help users observe changes over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27432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CAEBE"/>
                </a:solidFill>
                <a:latin typeface="Aptos"/>
              </a:rPr>
              <a:t>PROPOSED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41648"/>
            <a:ext cx="1042416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 i="0">
                <a:solidFill>
                  <a:srgbClr val="0F2740"/>
                </a:solidFill>
                <a:latin typeface="Aptos"/>
              </a:rPr>
              <a:t>WaterNet simulates telemetry, stores readings in PostgreSQL, visualizes trends in a React dashboard, and applies threshold rules to generate alerts.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394960"/>
            <a:ext cx="1042416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 i="1">
                <a:solidFill>
                  <a:srgbClr val="637A8F"/>
                </a:solidFill>
                <a:latin typeface="Aptos"/>
              </a:rPr>
              <a:t>Scope note: current results are generated by software and are not measurements from a real municipal pipeline.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73152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 i="0">
                <a:solidFill>
                  <a:srgbClr val="637A8F"/>
                </a:solidFill>
                <a:latin typeface="Aptos"/>
              </a:rPr>
              <a:t>WATERNET  •  SOFTWARE-BASED PIPELINE TELEMETRY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274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 i="0">
                <a:solidFill>
                  <a:srgbClr val="637A8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700" b="1" i="0">
                <a:solidFill>
                  <a:srgbClr val="0F2740"/>
                </a:solidFill>
                <a:latin typeface="Aptos"/>
              </a:rPr>
              <a:t>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95528"/>
            <a:ext cx="105156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637A8F"/>
                </a:solidFill>
                <a:latin typeface="Aptos"/>
              </a:rPr>
              <a:t>Current data flow from simulation to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383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1" i="0">
                <a:solidFill>
                  <a:srgbClr val="0CAEBE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920240"/>
            <a:ext cx="2057400" cy="91440"/>
          </a:xfrm>
          <a:prstGeom prst="rect">
            <a:avLst/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176272"/>
            <a:ext cx="1874519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i="0">
                <a:solidFill>
                  <a:srgbClr val="0F2740"/>
                </a:solidFill>
                <a:latin typeface="Aptos"/>
              </a:rPr>
              <a:t>Telemetry
Simulator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79192"/>
            <a:ext cx="1874519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0" i="0">
                <a:solidFill>
                  <a:srgbClr val="637A8F"/>
                </a:solidFill>
                <a:latin typeface="Aptos"/>
              </a:rPr>
              <a:t>Node.js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92024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54680" y="1920240"/>
            <a:ext cx="2057400" cy="91440"/>
          </a:xfrm>
          <a:prstGeom prst="rect">
            <a:avLst/>
          </a:prstGeom>
          <a:solidFill>
            <a:srgbClr val="F49D37"/>
          </a:solidFill>
          <a:ln>
            <a:solidFill>
              <a:srgbClr val="F4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2176272"/>
            <a:ext cx="1874519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i="0">
                <a:solidFill>
                  <a:srgbClr val="0F2740"/>
                </a:solidFill>
                <a:latin typeface="Aptos"/>
              </a:rPr>
              <a:t>Express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679192"/>
            <a:ext cx="1874519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0" i="0">
                <a:solidFill>
                  <a:srgbClr val="637A8F"/>
                </a:solidFill>
                <a:latin typeface="Aptos"/>
              </a:rPr>
              <a:t>Routes +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192024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0" y="1920240"/>
            <a:ext cx="2057400" cy="91440"/>
          </a:xfrm>
          <a:prstGeom prst="rect">
            <a:avLst/>
          </a:prstGeom>
          <a:solidFill>
            <a:srgbClr val="23B88B"/>
          </a:solidFill>
          <a:ln>
            <a:solidFill>
              <a:srgbClr val="23B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06440" y="2176272"/>
            <a:ext cx="1874519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i="0">
                <a:solidFill>
                  <a:srgbClr val="0F2740"/>
                </a:solidFill>
                <a:latin typeface="Aptos"/>
              </a:rPr>
              <a:t>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679192"/>
            <a:ext cx="1874519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0" i="0">
                <a:solidFill>
                  <a:srgbClr val="637A8F"/>
                </a:solidFill>
                <a:latin typeface="Aptos"/>
              </a:rPr>
              <a:t>Readings +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92024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1920240"/>
            <a:ext cx="2057400" cy="91440"/>
          </a:xfrm>
          <a:prstGeom prst="rect">
            <a:avLst/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1874519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i="0">
                <a:solidFill>
                  <a:srgbClr val="0F2740"/>
                </a:solidFill>
                <a:latin typeface="Aptos"/>
              </a:rPr>
              <a:t>React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679192"/>
            <a:ext cx="1874519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0" i="0">
                <a:solidFill>
                  <a:srgbClr val="637A8F"/>
                </a:solidFill>
                <a:latin typeface="Aptos"/>
              </a:rPr>
              <a:t>Charts + metrics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51760" y="2542032"/>
            <a:ext cx="502920" cy="0"/>
          </a:xfrm>
          <a:prstGeom prst="line">
            <a:avLst/>
          </a:prstGeom>
          <a:ln w="25400">
            <a:solidFill>
              <a:srgbClr val="0C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evron 21"/>
          <p:cNvSpPr/>
          <p:nvPr/>
        </p:nvSpPr>
        <p:spPr>
          <a:xfrm>
            <a:off x="3035808" y="2423160"/>
            <a:ext cx="164592" cy="237744"/>
          </a:xfrm>
          <a:prstGeom prst="chevron">
            <a:avLst/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>
            <a:off x="5212080" y="2542032"/>
            <a:ext cx="502920" cy="0"/>
          </a:xfrm>
          <a:prstGeom prst="line">
            <a:avLst/>
          </a:prstGeom>
          <a:ln w="25400">
            <a:solidFill>
              <a:srgbClr val="0C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>
            <a:off x="5596128" y="2423160"/>
            <a:ext cx="164592" cy="237744"/>
          </a:xfrm>
          <a:prstGeom prst="chevron">
            <a:avLst/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7772400" y="2542032"/>
            <a:ext cx="502920" cy="0"/>
          </a:xfrm>
          <a:prstGeom prst="line">
            <a:avLst/>
          </a:prstGeom>
          <a:ln w="25400">
            <a:solidFill>
              <a:srgbClr val="0C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evron 25"/>
          <p:cNvSpPr/>
          <p:nvPr/>
        </p:nvSpPr>
        <p:spPr>
          <a:xfrm>
            <a:off x="8156448" y="2423160"/>
            <a:ext cx="164592" cy="237744"/>
          </a:xfrm>
          <a:prstGeom prst="chevron">
            <a:avLst/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2960" y="3886200"/>
            <a:ext cx="10332720" cy="731520"/>
          </a:xfrm>
          <a:prstGeom prst="roundRect">
            <a:avLst>
              <a:gd name="adj" fmla="val 12000"/>
            </a:avLst>
          </a:prstGeom>
          <a:solidFill>
            <a:srgbClr val="DEF9FA"/>
          </a:solidFill>
          <a:ln>
            <a:solidFill>
              <a:srgbClr val="DE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4023360"/>
            <a:ext cx="99669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 i="0">
                <a:solidFill>
                  <a:srgbClr val="0F2740"/>
                </a:solidFill>
                <a:latin typeface="Aptos"/>
              </a:rPr>
              <a:t>Simulator → API / threshold logic → PostgreSQL → React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74920"/>
            <a:ext cx="101498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0" i="0">
                <a:solidFill>
                  <a:srgbClr val="637A8F"/>
                </a:solidFill>
                <a:latin typeface="Aptos"/>
              </a:rPr>
              <a:t>The dashboard polls the API periodically; the simulator currently generates a reading every 30 seconds.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73152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 i="0">
                <a:solidFill>
                  <a:srgbClr val="637A8F"/>
                </a:solidFill>
                <a:latin typeface="Aptos"/>
              </a:rPr>
              <a:t>WATERNET  •  SOFTWARE-BASED PIPELINE TELEMETRY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274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 i="0">
                <a:solidFill>
                  <a:srgbClr val="637A8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700" b="1" i="0">
                <a:solidFill>
                  <a:srgbClr val="0F2740"/>
                </a:solidFill>
                <a:latin typeface="Aptos"/>
              </a:rPr>
              <a:t>Implementation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95528"/>
            <a:ext cx="105156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637A8F"/>
                </a:solidFill>
                <a:latin typeface="Aptos"/>
              </a:rPr>
              <a:t>How the main components 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383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1" i="0">
                <a:solidFill>
                  <a:srgbClr val="0CAEBE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DEF9FA"/>
          </a:solidFill>
          <a:ln>
            <a:solidFill>
              <a:srgbClr val="DE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307592"/>
            <a:ext cx="347472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0CAEBE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34440"/>
            <a:ext cx="13716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Aptos"/>
              </a:rPr>
              <a:t>1. Generate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234440"/>
            <a:ext cx="8138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 i="0">
                <a:solidFill>
                  <a:srgbClr val="637A8F"/>
                </a:solidFill>
                <a:latin typeface="Aptos"/>
              </a:rPr>
              <a:t>Node.js simulator creates flow, pressure and turbidity values every 30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4884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DEF9FA"/>
          </a:solidFill>
          <a:ln>
            <a:solidFill>
              <a:srgbClr val="DE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221992"/>
            <a:ext cx="347472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0CAEBE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48840"/>
            <a:ext cx="13716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Aptos"/>
              </a:rPr>
              <a:t>2. 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148840"/>
            <a:ext cx="8138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 i="0">
                <a:solidFill>
                  <a:srgbClr val="637A8F"/>
                </a:solidFill>
                <a:latin typeface="Aptos"/>
              </a:rPr>
              <a:t>Backend inserts telemetry into PostgreSQL with a simulated source label.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06324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DEF9FA"/>
          </a:solidFill>
          <a:ln>
            <a:solidFill>
              <a:srgbClr val="DE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136392"/>
            <a:ext cx="347472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0CAEBE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63240"/>
            <a:ext cx="13716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Aptos"/>
              </a:rPr>
              <a:t>3. Evaluate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063240"/>
            <a:ext cx="8138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 i="0">
                <a:solidFill>
                  <a:srgbClr val="637A8F"/>
                </a:solidFill>
                <a:latin typeface="Aptos"/>
              </a:rPr>
              <a:t>Threshold rules check for possible leaks and high turbidity.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39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DEF9FA"/>
          </a:solidFill>
          <a:ln>
            <a:solidFill>
              <a:srgbClr val="DE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4050791"/>
            <a:ext cx="347472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0CAEBE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77639"/>
            <a:ext cx="13716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Aptos"/>
              </a:rPr>
              <a:t>4. 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977639"/>
            <a:ext cx="8138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 i="0">
                <a:solidFill>
                  <a:srgbClr val="637A8F"/>
                </a:solidFill>
                <a:latin typeface="Aptos"/>
              </a:rPr>
              <a:t>Express endpoints return readings, summaries and alerts to authenticated clients.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9204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DEF9FA"/>
          </a:solidFill>
          <a:ln>
            <a:solidFill>
              <a:srgbClr val="DE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4965192"/>
            <a:ext cx="347472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0CAEBE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92040"/>
            <a:ext cx="13716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 i="0">
                <a:solidFill>
                  <a:srgbClr val="0F2740"/>
                </a:solidFill>
                <a:latin typeface="Aptos"/>
              </a:rPr>
              <a:t>5. Display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892040"/>
            <a:ext cx="8138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 i="0">
                <a:solidFill>
                  <a:srgbClr val="637A8F"/>
                </a:solidFill>
                <a:latin typeface="Aptos"/>
              </a:rPr>
              <a:t>React dashboard refreshes periodically and updates cards, charts and tables.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806440"/>
            <a:ext cx="10241280" cy="384048"/>
          </a:xfrm>
          <a:prstGeom prst="roundRect">
            <a:avLst>
              <a:gd name="adj" fmla="val 12000"/>
            </a:avLst>
          </a:prstGeom>
          <a:solidFill>
            <a:srgbClr val="0F2740"/>
          </a:solidFill>
          <a:ln>
            <a:solidFill>
              <a:srgbClr val="0F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5852160"/>
            <a:ext cx="9966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Leak rule example: pressure &lt; 1.5 bar AND flow rate &gt; 20 L/min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10528"/>
            <a:ext cx="73152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 i="0">
                <a:solidFill>
                  <a:srgbClr val="637A8F"/>
                </a:solidFill>
                <a:latin typeface="Aptos"/>
              </a:rPr>
              <a:t>WATERNET  •  SOFTWARE-BASED PIPELINE TELEMETRY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92240"/>
            <a:ext cx="274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 i="0">
                <a:solidFill>
                  <a:srgbClr val="637A8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700" b="1" i="0">
                <a:solidFill>
                  <a:srgbClr val="0F2740"/>
                </a:solidFill>
                <a:latin typeface="Aptos"/>
              </a:rPr>
              <a:t>Output Screens —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383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1" i="0">
                <a:solidFill>
                  <a:srgbClr val="0CAEBE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9848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8" y="1344168"/>
            <a:ext cx="10479024" cy="274320"/>
          </a:xfrm>
          <a:prstGeom prst="roundRect">
            <a:avLst>
              <a:gd name="adj" fmla="val 12000"/>
            </a:avLst>
          </a:prstGeom>
          <a:solidFill>
            <a:srgbClr val="DEF9FA"/>
          </a:solidFill>
          <a:ln>
            <a:solidFill>
              <a:srgbClr val="DE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10332719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 i="0" dirty="0">
                <a:solidFill>
                  <a:srgbClr val="0CAEBE"/>
                </a:solidFill>
                <a:latin typeface="Aptos"/>
              </a:rPr>
              <a:t>OUTPUT SCREENSHOT</a:t>
            </a:r>
          </a:p>
        </p:txBody>
      </p:sp>
      <p:sp>
        <p:nvSpPr>
          <p:cNvPr id="8" name="Oval 7"/>
          <p:cNvSpPr/>
          <p:nvPr/>
        </p:nvSpPr>
        <p:spPr>
          <a:xfrm>
            <a:off x="5870447" y="3337560"/>
            <a:ext cx="420624" cy="274320"/>
          </a:xfrm>
          <a:prstGeom prst="ellipse">
            <a:avLst/>
          </a:prstGeom>
          <a:noFill/>
          <a:ln w="25400"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07607" y="3246120"/>
            <a:ext cx="146304" cy="91440"/>
          </a:xfrm>
          <a:prstGeom prst="roundRect">
            <a:avLst>
              <a:gd name="adj" fmla="val 12000"/>
            </a:avLst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10332719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F2740"/>
                </a:solidFill>
                <a:latin typeface="Aptos"/>
              </a:rPr>
              <a:t>MAIN WATERNET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332719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0" i="0">
                <a:solidFill>
                  <a:srgbClr val="637A8F"/>
                </a:solidFill>
                <a:latin typeface="Aptos"/>
              </a:rPr>
              <a:t>Include metric cards, navigation, charts, alert summary and recent readings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73152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 i="0">
                <a:solidFill>
                  <a:srgbClr val="637A8F"/>
                </a:solidFill>
                <a:latin typeface="Aptos"/>
              </a:rPr>
              <a:t>WATERNET  •  SOFTWARE-BASED PIPELINE TELEMETRY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274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 i="0">
                <a:solidFill>
                  <a:srgbClr val="637A8F"/>
                </a:solidFill>
                <a:latin typeface="Aptos"/>
              </a:rPr>
              <a:t>7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CBB514-0335-8F27-6276-022C3ECB6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361" y="1689394"/>
            <a:ext cx="8418576" cy="42867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700" b="1" i="0">
                <a:solidFill>
                  <a:srgbClr val="0F2740"/>
                </a:solidFill>
                <a:latin typeface="Aptos"/>
              </a:rPr>
              <a:t>Output Screens — Charts &amp;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383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1" i="0">
                <a:solidFill>
                  <a:srgbClr val="0CAEBE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57800" cy="4434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95528" y="1435607"/>
            <a:ext cx="5038344" cy="274320"/>
          </a:xfrm>
          <a:prstGeom prst="roundRect">
            <a:avLst>
              <a:gd name="adj" fmla="val 12000"/>
            </a:avLst>
          </a:prstGeom>
          <a:solidFill>
            <a:srgbClr val="DEF9FA"/>
          </a:solidFill>
          <a:ln>
            <a:solidFill>
              <a:srgbClr val="DE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44752"/>
            <a:ext cx="489204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 i="0">
                <a:solidFill>
                  <a:srgbClr val="0CAEBE"/>
                </a:solidFill>
                <a:latin typeface="Aptos"/>
              </a:rPr>
              <a:t>OUTPUT SCREENSHOT PLACEHOLDER</a:t>
            </a:r>
          </a:p>
        </p:txBody>
      </p:sp>
      <p:sp>
        <p:nvSpPr>
          <p:cNvPr id="8" name="Oval 7"/>
          <p:cNvSpPr/>
          <p:nvPr/>
        </p:nvSpPr>
        <p:spPr>
          <a:xfrm>
            <a:off x="3104388" y="3268980"/>
            <a:ext cx="420624" cy="274320"/>
          </a:xfrm>
          <a:prstGeom prst="ellipse">
            <a:avLst/>
          </a:prstGeom>
          <a:noFill/>
          <a:ln w="25400"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41548" y="3177540"/>
            <a:ext cx="146304" cy="91440"/>
          </a:xfrm>
          <a:prstGeom prst="roundRect">
            <a:avLst>
              <a:gd name="adj" fmla="val 12000"/>
            </a:avLst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726180"/>
            <a:ext cx="489204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F2740"/>
                </a:solidFill>
                <a:latin typeface="Aptos"/>
              </a:rPr>
              <a:t>FLOW &amp; PRESSURE CHARTS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349240"/>
            <a:ext cx="489204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0" i="0">
                <a:solidFill>
                  <a:srgbClr val="637A8F"/>
                </a:solidFill>
                <a:latin typeface="Aptos"/>
              </a:rPr>
              <a:t>Capture charts after readings have updated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257800" cy="4434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73368" y="1435607"/>
            <a:ext cx="5038344" cy="274320"/>
          </a:xfrm>
          <a:prstGeom prst="roundRect">
            <a:avLst>
              <a:gd name="adj" fmla="val 12000"/>
            </a:avLst>
          </a:prstGeom>
          <a:solidFill>
            <a:srgbClr val="DEF9FA"/>
          </a:solidFill>
          <a:ln>
            <a:solidFill>
              <a:srgbClr val="DE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444752"/>
            <a:ext cx="489204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 i="0">
                <a:solidFill>
                  <a:srgbClr val="0CAEBE"/>
                </a:solidFill>
                <a:latin typeface="Aptos"/>
              </a:rPr>
              <a:t>OUTPUT SCREENSHOT PLACEHOLDER</a:t>
            </a:r>
          </a:p>
        </p:txBody>
      </p:sp>
      <p:sp>
        <p:nvSpPr>
          <p:cNvPr id="15" name="Oval 14"/>
          <p:cNvSpPr/>
          <p:nvPr/>
        </p:nvSpPr>
        <p:spPr>
          <a:xfrm>
            <a:off x="8682228" y="3268980"/>
            <a:ext cx="420624" cy="274320"/>
          </a:xfrm>
          <a:prstGeom prst="ellipse">
            <a:avLst/>
          </a:prstGeom>
          <a:noFill/>
          <a:ln w="25400"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819388" y="3177540"/>
            <a:ext cx="146304" cy="91440"/>
          </a:xfrm>
          <a:prstGeom prst="roundRect">
            <a:avLst>
              <a:gd name="adj" fmla="val 12000"/>
            </a:avLst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726180"/>
            <a:ext cx="489204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F2740"/>
                </a:solidFill>
                <a:latin typeface="Aptos"/>
              </a:rPr>
              <a:t>NETWORK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5349240"/>
            <a:ext cx="489204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0" i="0">
                <a:solidFill>
                  <a:srgbClr val="637A8F"/>
                </a:solidFill>
                <a:latin typeface="Aptos"/>
              </a:rPr>
              <a:t>Capture the alert list; avoid showing excessive duplicate alerts if possible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73152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 i="0">
                <a:solidFill>
                  <a:srgbClr val="637A8F"/>
                </a:solidFill>
                <a:latin typeface="Aptos"/>
              </a:rPr>
              <a:t>WATERNET  •  SOFTWARE-BASED PIPELINE TELEMETRY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92240"/>
            <a:ext cx="274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 i="0">
                <a:solidFill>
                  <a:srgbClr val="637A8F"/>
                </a:solidFill>
                <a:latin typeface="Aptos"/>
              </a:rPr>
              <a:t>8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DF5F70D-C8E4-BE46-3656-374C79E2E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" y="1929382"/>
            <a:ext cx="5257800" cy="360273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D96AD6E-8D9E-914B-4E76-715432828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229" y="1755648"/>
            <a:ext cx="4968671" cy="40507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700" b="1" i="0">
                <a:solidFill>
                  <a:srgbClr val="0F2740"/>
                </a:solidFill>
                <a:latin typeface="Aptos"/>
              </a:rPr>
              <a:t>Output Screens — API &amp;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95528"/>
            <a:ext cx="105156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637A8F"/>
                </a:solidFill>
                <a:latin typeface="Aptos"/>
              </a:rPr>
              <a:t>Demonstrate data submission and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383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1" i="0">
                <a:solidFill>
                  <a:srgbClr val="0CAEBE"/>
                </a:solidFill>
                <a:latin typeface="Aptos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57800" cy="4434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95528" y="1435607"/>
            <a:ext cx="5038344" cy="274320"/>
          </a:xfrm>
          <a:prstGeom prst="roundRect">
            <a:avLst>
              <a:gd name="adj" fmla="val 12000"/>
            </a:avLst>
          </a:prstGeom>
          <a:solidFill>
            <a:srgbClr val="DEF9FA"/>
          </a:solidFill>
          <a:ln>
            <a:solidFill>
              <a:srgbClr val="DE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44752"/>
            <a:ext cx="489204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 i="0">
                <a:solidFill>
                  <a:srgbClr val="0CAEBE"/>
                </a:solidFill>
                <a:latin typeface="Aptos"/>
              </a:rPr>
              <a:t>OUTPUT SCREENSHOT PLACEHOLDER</a:t>
            </a:r>
          </a:p>
        </p:txBody>
      </p:sp>
      <p:sp>
        <p:nvSpPr>
          <p:cNvPr id="8" name="Oval 7"/>
          <p:cNvSpPr/>
          <p:nvPr/>
        </p:nvSpPr>
        <p:spPr>
          <a:xfrm>
            <a:off x="3104388" y="3268980"/>
            <a:ext cx="420624" cy="274320"/>
          </a:xfrm>
          <a:prstGeom prst="ellipse">
            <a:avLst/>
          </a:prstGeom>
          <a:noFill/>
          <a:ln w="25400"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41548" y="3177540"/>
            <a:ext cx="146304" cy="91440"/>
          </a:xfrm>
          <a:prstGeom prst="roundRect">
            <a:avLst>
              <a:gd name="adj" fmla="val 12000"/>
            </a:avLst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726180"/>
            <a:ext cx="489204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F2740"/>
                </a:solidFill>
                <a:latin typeface="Aptos"/>
              </a:rPr>
              <a:t>THUNDER CLIENT 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349240"/>
            <a:ext cx="489204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0" i="0">
                <a:solidFill>
                  <a:srgbClr val="637A8F"/>
                </a:solidFill>
                <a:latin typeface="Aptos"/>
              </a:rPr>
              <a:t>Show successful authenticated POST response; hide JWT tokens and passwords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257800" cy="4434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73368" y="1435607"/>
            <a:ext cx="5038344" cy="274320"/>
          </a:xfrm>
          <a:prstGeom prst="roundRect">
            <a:avLst>
              <a:gd name="adj" fmla="val 12000"/>
            </a:avLst>
          </a:prstGeom>
          <a:solidFill>
            <a:srgbClr val="DEF9FA"/>
          </a:solidFill>
          <a:ln>
            <a:solidFill>
              <a:srgbClr val="DE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444752"/>
            <a:ext cx="489204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 i="0">
                <a:solidFill>
                  <a:srgbClr val="0CAEBE"/>
                </a:solidFill>
                <a:latin typeface="Aptos"/>
              </a:rPr>
              <a:t>OUTPUT SCREENSHOT PLACEHOLDER</a:t>
            </a:r>
          </a:p>
        </p:txBody>
      </p:sp>
      <p:sp>
        <p:nvSpPr>
          <p:cNvPr id="15" name="Oval 14"/>
          <p:cNvSpPr/>
          <p:nvPr/>
        </p:nvSpPr>
        <p:spPr>
          <a:xfrm>
            <a:off x="8682228" y="3268980"/>
            <a:ext cx="420624" cy="274320"/>
          </a:xfrm>
          <a:prstGeom prst="ellipse">
            <a:avLst/>
          </a:prstGeom>
          <a:noFill/>
          <a:ln w="25400"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819388" y="3177540"/>
            <a:ext cx="146304" cy="91440"/>
          </a:xfrm>
          <a:prstGeom prst="roundRect">
            <a:avLst>
              <a:gd name="adj" fmla="val 12000"/>
            </a:avLst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726180"/>
            <a:ext cx="489204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dirty="0">
                <a:solidFill>
                  <a:srgbClr val="0F2740"/>
                </a:solidFill>
                <a:latin typeface="Aptos"/>
              </a:rPr>
              <a:t>POSTGRESQL TABLE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5349240"/>
            <a:ext cx="489204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0" i="0">
                <a:solidFill>
                  <a:srgbClr val="637A8F"/>
                </a:solidFill>
                <a:latin typeface="Aptos"/>
              </a:rPr>
              <a:t>Show telemetry rows and alert records in pgAdmin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73152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 i="0">
                <a:solidFill>
                  <a:srgbClr val="637A8F"/>
                </a:solidFill>
                <a:latin typeface="Aptos"/>
              </a:rPr>
              <a:t>WATERNET  •  SOFTWARE-BASED PIPELINE TELEMETRY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92240"/>
            <a:ext cx="274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 i="0">
                <a:solidFill>
                  <a:srgbClr val="637A8F"/>
                </a:solidFill>
                <a:latin typeface="Aptos"/>
              </a:rPr>
              <a:t>9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4157FE0-74C7-F999-3B33-2F0301600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754060"/>
            <a:ext cx="5038344" cy="388421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086FBD4-C71F-2B71-536D-8850B964E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643" y="1819654"/>
            <a:ext cx="5257800" cy="38186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700" b="1" i="0">
                <a:solidFill>
                  <a:srgbClr val="0F2740"/>
                </a:solidFill>
                <a:latin typeface="Aptos"/>
              </a:rP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95528"/>
            <a:ext cx="105156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637A8F"/>
                </a:solidFill>
                <a:latin typeface="Aptos"/>
              </a:rPr>
              <a:t>Possible extensions beyond the current software-only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383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1" i="0">
                <a:solidFill>
                  <a:srgbClr val="0CAEBE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51663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68580" cy="1097280"/>
          </a:xfrm>
          <a:prstGeom prst="rect">
            <a:avLst/>
          </a:prstGeom>
          <a:solidFill>
            <a:srgbClr val="0CAEBE"/>
          </a:solidFill>
          <a:ln>
            <a:solidFill>
              <a:srgbClr val="0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399031"/>
            <a:ext cx="4846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F2740"/>
                </a:solidFill>
                <a:latin typeface="Aptos"/>
              </a:rPr>
              <a:t>Real sensor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19072"/>
            <a:ext cx="4818888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637A8F"/>
                </a:solidFill>
                <a:latin typeface="Aptos"/>
              </a:rPr>
              <a:t>Connect physical flow, pressure and turbidity sensors through a suitable gateway.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1280160"/>
            <a:ext cx="51663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55079" y="1280160"/>
            <a:ext cx="68580" cy="1097280"/>
          </a:xfrm>
          <a:prstGeom prst="rect">
            <a:avLst/>
          </a:prstGeom>
          <a:solidFill>
            <a:srgbClr val="F49D37"/>
          </a:solidFill>
          <a:ln>
            <a:solidFill>
              <a:srgbClr val="F4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59" y="1399031"/>
            <a:ext cx="4846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F2740"/>
                </a:solidFill>
                <a:latin typeface="Aptos"/>
              </a:rPr>
              <a:t>Alert deduplication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1719072"/>
            <a:ext cx="4818888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637A8F"/>
                </a:solidFill>
                <a:latin typeface="Aptos"/>
              </a:rPr>
              <a:t>Avoid creating repeated unresolved alerts for the same continuing condition.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697480"/>
            <a:ext cx="51663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2697480"/>
            <a:ext cx="68580" cy="1097280"/>
          </a:xfrm>
          <a:prstGeom prst="rect">
            <a:avLst/>
          </a:prstGeom>
          <a:solidFill>
            <a:srgbClr val="23B88B"/>
          </a:solidFill>
          <a:ln>
            <a:solidFill>
              <a:srgbClr val="23B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816352"/>
            <a:ext cx="4846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F2740"/>
                </a:solidFill>
                <a:latin typeface="Aptos"/>
              </a:rPr>
              <a:t>Historical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136392"/>
            <a:ext cx="4818888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637A8F"/>
                </a:solidFill>
                <a:latin typeface="Aptos"/>
              </a:rPr>
              <a:t>Add date filters, longer-term trends and downloadable reports.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2697480"/>
            <a:ext cx="51663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79" y="2697480"/>
            <a:ext cx="68580" cy="1097280"/>
          </a:xfrm>
          <a:prstGeom prst="rect">
            <a:avLst/>
          </a:prstGeom>
          <a:solidFill>
            <a:srgbClr val="E25B66"/>
          </a:solidFill>
          <a:ln>
            <a:solidFill>
              <a:srgbClr val="E2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59" y="2816352"/>
            <a:ext cx="4846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F2740"/>
                </a:solidFill>
                <a:latin typeface="Aptos"/>
              </a:rPr>
              <a:t>Configurable thresholds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3136392"/>
            <a:ext cx="4818888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637A8F"/>
                </a:solidFill>
                <a:latin typeface="Aptos"/>
              </a:rPr>
              <a:t>Allow authorized users to adjust alert thresholds and simulation rate.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14800"/>
            <a:ext cx="51663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4114800"/>
            <a:ext cx="68580" cy="1097280"/>
          </a:xfrm>
          <a:prstGeom prst="rect">
            <a:avLst/>
          </a:prstGeom>
          <a:solidFill>
            <a:srgbClr val="4DD3DC"/>
          </a:solidFill>
          <a:ln>
            <a:solidFill>
              <a:srgbClr val="4D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233672"/>
            <a:ext cx="4846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F2740"/>
                </a:solidFill>
                <a:latin typeface="Aptos"/>
              </a:rPr>
              <a:t>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553712"/>
            <a:ext cx="4818888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637A8F"/>
                </a:solidFill>
                <a:latin typeface="Aptos"/>
              </a:rPr>
              <a:t>Add email or app notifications for important alerts.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79" y="4114800"/>
            <a:ext cx="51663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55079" y="4114800"/>
            <a:ext cx="68580" cy="1097280"/>
          </a:xfrm>
          <a:prstGeom prst="rect">
            <a:avLst/>
          </a:prstGeom>
          <a:solidFill>
            <a:srgbClr val="193B54"/>
          </a:solidFill>
          <a:ln>
            <a:solidFill>
              <a:srgbClr val="193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59" y="4233672"/>
            <a:ext cx="4846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F2740"/>
                </a:solidFill>
                <a:latin typeface="Aptos"/>
              </a:rP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4553712"/>
            <a:ext cx="4818888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637A8F"/>
                </a:solidFill>
                <a:latin typeface="Aptos"/>
              </a:rPr>
              <a:t>Host the application and database in a secure deployment environment.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10528"/>
            <a:ext cx="73152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 i="0">
                <a:solidFill>
                  <a:srgbClr val="637A8F"/>
                </a:solidFill>
                <a:latin typeface="Aptos"/>
              </a:rPr>
              <a:t>WATERNET  •  SOFTWARE-BASED PIPELINE TELEMETRY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92240"/>
            <a:ext cx="274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 i="0">
                <a:solidFill>
                  <a:srgbClr val="637A8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95528"/>
            <a:ext cx="105156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4DD3DC"/>
                </a:solidFill>
                <a:latin typeface="Aptos"/>
              </a:rPr>
              <a:t>WaterNet demonstrates a software-first telemetry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383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1" i="0">
                <a:solidFill>
                  <a:srgbClr val="4DD3DC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24128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Aptos"/>
              </a:rPr>
              <a:t>WaterNet combines simulated measurements, persistent storage, data visualization and threshold-based alerts in one web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71800"/>
            <a:ext cx="2423160" cy="1143000"/>
          </a:xfrm>
          <a:prstGeom prst="roundRect">
            <a:avLst>
              <a:gd name="adj" fmla="val 12000"/>
            </a:avLst>
          </a:prstGeom>
          <a:solidFill>
            <a:srgbClr val="193B54"/>
          </a:solidFill>
          <a:ln>
            <a:solidFill>
              <a:srgbClr val="325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3182112"/>
            <a:ext cx="21945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i="0">
                <a:solidFill>
                  <a:srgbClr val="4DD3DC"/>
                </a:solidFill>
                <a:latin typeface="Aptos"/>
              </a:rPr>
              <a:t>SIMULATE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566160"/>
            <a:ext cx="21945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0" i="0">
                <a:solidFill>
                  <a:srgbClr val="CDE1ED"/>
                </a:solidFill>
                <a:latin typeface="Aptos"/>
              </a:rPr>
              <a:t>Generate readings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79" y="2971800"/>
            <a:ext cx="2423160" cy="1143000"/>
          </a:xfrm>
          <a:prstGeom prst="roundRect">
            <a:avLst>
              <a:gd name="adj" fmla="val 12000"/>
            </a:avLst>
          </a:prstGeom>
          <a:solidFill>
            <a:srgbClr val="193B54"/>
          </a:solidFill>
          <a:ln>
            <a:solidFill>
              <a:srgbClr val="325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21607" y="3182112"/>
            <a:ext cx="21945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i="0">
                <a:solidFill>
                  <a:srgbClr val="4DD3DC"/>
                </a:solidFill>
                <a:latin typeface="Aptos"/>
              </a:rPr>
              <a:t>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3566160"/>
            <a:ext cx="21945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0" i="0">
                <a:solidFill>
                  <a:srgbClr val="CDE1ED"/>
                </a:solidFill>
                <a:latin typeface="Apto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971800"/>
            <a:ext cx="2423160" cy="1143000"/>
          </a:xfrm>
          <a:prstGeom prst="roundRect">
            <a:avLst>
              <a:gd name="adj" fmla="val 12000"/>
            </a:avLst>
          </a:prstGeom>
          <a:solidFill>
            <a:srgbClr val="193B54"/>
          </a:solidFill>
          <a:ln>
            <a:solidFill>
              <a:srgbClr val="325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3182112"/>
            <a:ext cx="21945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i="0">
                <a:solidFill>
                  <a:srgbClr val="4DD3DC"/>
                </a:solidFill>
                <a:latin typeface="Aptos"/>
              </a:rPr>
              <a:t>VISUALIZE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566160"/>
            <a:ext cx="21945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0" i="0">
                <a:solidFill>
                  <a:srgbClr val="CDE1ED"/>
                </a:solidFill>
                <a:latin typeface="Aptos"/>
              </a:rPr>
              <a:t>React 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2971800"/>
            <a:ext cx="2423160" cy="1143000"/>
          </a:xfrm>
          <a:prstGeom prst="roundRect">
            <a:avLst>
              <a:gd name="adj" fmla="val 12000"/>
            </a:avLst>
          </a:prstGeom>
          <a:solidFill>
            <a:srgbClr val="193B54"/>
          </a:solidFill>
          <a:ln>
            <a:solidFill>
              <a:srgbClr val="325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99447" y="3182112"/>
            <a:ext cx="21945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i="0">
                <a:solidFill>
                  <a:srgbClr val="4DD3DC"/>
                </a:solidFill>
                <a:latin typeface="Aptos"/>
              </a:rPr>
              <a:t>ALERT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9447" y="3566160"/>
            <a:ext cx="21945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0" i="0">
                <a:solidFill>
                  <a:srgbClr val="CDE1ED"/>
                </a:solidFill>
                <a:latin typeface="Aptos"/>
              </a:rPr>
              <a:t>Threshold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46320"/>
            <a:ext cx="3657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97880"/>
            <a:ext cx="91440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 i="0">
                <a:solidFill>
                  <a:srgbClr val="CDE1ED"/>
                </a:solidFill>
                <a:latin typeface="Aptos"/>
              </a:rPr>
              <a:t>Team No: 1  •  T. Sai Pavan Reddy  •  K. Kushal Kumar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73152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 i="0">
                <a:solidFill>
                  <a:srgbClr val="9AB2C5"/>
                </a:solidFill>
                <a:latin typeface="Aptos"/>
              </a:rPr>
              <a:t>WATERNET  •  SOFTWARE-BASED PIPELINE TELEMETRY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92240"/>
            <a:ext cx="27432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 i="0">
                <a:solidFill>
                  <a:srgbClr val="9AB2C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862</Words>
  <Application>Microsoft Office PowerPoint</Application>
  <PresentationFormat>Widescreen</PresentationFormat>
  <Paragraphs>148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WaterNet Project Presentation</dc:title>
  <dc:subject>Municipal Pipeline Flow and Pressure Telemetry</dc:subject>
  <dc:creator>Team 1 - T. Sai Pavan Reddy and K. Kushal Kumar</dc:creator>
  <cp:keywords>WaterNet, simulated telemetry, React, Express, PostgreSQL</cp:keywords>
  <dc:description>generated using python-pptx</dc:description>
  <cp:lastModifiedBy>SRIKAR PRATHAP</cp:lastModifiedBy>
  <cp:revision>3</cp:revision>
  <dcterms:created xsi:type="dcterms:W3CDTF">2013-01-27T09:14:16Z</dcterms:created>
  <dcterms:modified xsi:type="dcterms:W3CDTF">2026-10-17T05:00:56Z</dcterms:modified>
  <cp:category/>
</cp:coreProperties>
</file>